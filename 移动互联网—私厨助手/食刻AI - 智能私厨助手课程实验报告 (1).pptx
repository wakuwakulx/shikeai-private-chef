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96" y="19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svg"/><Relationship Id="rId4" Type="http://schemas.openxmlformats.org/officeDocument/2006/relationships/image" Target="../media/image5.jpe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4.jpe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4.jpe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Relationship Id="rId9" Type="http://schemas.openxmlformats.org/officeDocument/2006/relationships/image" Target="../media/image2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.jpe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食刻AI - 智能私厨助手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37465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 UniApp + FastAPI + Qwen2.5 的本地 AI 菜谱生成系统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87400" y="5143500"/>
            <a:ext cx="3302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2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53594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49400" y="53086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chemeClr val="tx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Noto Sans SC"/>
                <a:sym typeface="Noto Sans SC"/>
              </a:rPr>
              <a:t>汇报人</a:t>
            </a:r>
            <a:r>
              <a:rPr lang="zh-CN" altLang="en-US" sz="1400" b="0" i="0" u="none" strike="noStrike" dirty="0">
                <a:solidFill>
                  <a:schemeClr val="tx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Noto Sans SC"/>
                <a:sym typeface="Noto Sans SC"/>
              </a:rPr>
              <a:t>：</a:t>
            </a:r>
            <a:endParaRPr lang="en-US" sz="1100" dirty="0">
              <a:solidFill>
                <a:schemeClr val="tx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2100" b="0" i="0" u="none" strike="noStrike" dirty="0" err="1">
                <a:solidFill>
                  <a:schemeClr val="tx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Noto Sans SC"/>
                <a:sym typeface="Noto Sans SC"/>
              </a:rPr>
              <a:t>李富享</a:t>
            </a:r>
            <a:endParaRPr lang="en-US" sz="2100" b="0" i="0" u="none" strike="noStrike" dirty="0">
              <a:solidFill>
                <a:schemeClr val="tx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5124450"/>
            <a:ext cx="3302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2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53594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05400" y="53086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i="0" u="none" strike="noStrike" dirty="0" err="1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Noto Sans SC"/>
                <a:sym typeface="Noto Sans SC"/>
              </a:rPr>
              <a:t>组员</a:t>
            </a:r>
            <a:r>
              <a:rPr lang="en-US" sz="1600" i="0" u="none" strike="noStrike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Noto Sans SC"/>
                <a:sym typeface="Noto Sans SC"/>
              </a:rPr>
              <a:t>：</a:t>
            </a:r>
            <a:endParaRPr lang="en-US" sz="1100" dirty="0">
              <a:solidFill>
                <a:schemeClr val="tx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600" i="0" u="none" strike="noStrike" dirty="0" err="1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Noto Sans SC"/>
                <a:sym typeface="Noto Sans SC"/>
              </a:rPr>
              <a:t>陈炳阳</a:t>
            </a:r>
            <a:r>
              <a:rPr lang="en-US" sz="1600" i="0" u="none" strike="noStrike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Noto Sans SC"/>
                <a:sym typeface="Noto Sans SC"/>
              </a:rPr>
              <a:t> </a:t>
            </a:r>
            <a:r>
              <a:rPr lang="en-US" sz="1600" i="0" u="none" strike="noStrike" dirty="0" err="1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Noto Sans SC"/>
                <a:sym typeface="Noto Sans SC"/>
              </a:rPr>
              <a:t>杨琳超</a:t>
            </a:r>
            <a:r>
              <a:rPr lang="en-US" sz="1600" i="0" u="none" strike="noStrike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Noto Sans SC"/>
                <a:sym typeface="Noto Sans SC"/>
              </a:rPr>
              <a:t> </a:t>
            </a:r>
            <a:r>
              <a:rPr lang="en-US" sz="1600" i="0" u="none" strike="noStrike" dirty="0" err="1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Noto Sans SC"/>
                <a:sym typeface="Noto Sans SC"/>
              </a:rPr>
              <a:t>杨瑾瑜</a:t>
            </a:r>
            <a:endParaRPr lang="en-US" sz="1600" i="0" u="none" strike="noStrike" dirty="0">
              <a:solidFill>
                <a:schemeClr val="tx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001000" y="5143500"/>
            <a:ext cx="3302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2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661400" y="53086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汇报日期</a:t>
            </a:r>
            <a:endParaRPr lang="en-US" sz="1100" dirty="0">
              <a:solidFill>
                <a:schemeClr val="tx1"/>
              </a:solidFill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8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2026年7月11日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B5E20"/>
                </a:solidFill>
                <a:latin typeface="Noto Sans SC"/>
                <a:ea typeface="Noto Sans SC"/>
                <a:cs typeface="Noto Sans SC"/>
                <a:sym typeface="Noto Sans SC"/>
              </a:rPr>
              <a:t>破解“今天吃什么”的世纪难题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9937" r="9937"/>
          <a:stretch>
            <a:fillRect/>
          </a:stretch>
        </p:blipFill>
        <p:spPr>
          <a:xfrm>
            <a:off x="762000" y="1905000"/>
            <a:ext cx="3810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143500"/>
            <a:ext cx="381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“今天吃什么？”是困扰无数人的日常难题。我们不仅面临选择的纠结，更担忧饮食的健康与隐私。</a:t>
            </a:r>
            <a:r>
              <a:rPr 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食刻AI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应运而生，它不仅是菜谱推荐工具，更是懂你、护你的私人厨房智能管家。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0" y="17780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B5E20"/>
                </a:solidFill>
                <a:latin typeface="Noto Sans SC"/>
                <a:ea typeface="Noto Sans SC"/>
                <a:cs typeface="Noto Sans SC"/>
                <a:sym typeface="Noto Sans SC"/>
              </a:rPr>
              <a:t>01 / 直击四大饮食痛点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0" y="2413000"/>
            <a:ext cx="3048000" cy="1143000"/>
          </a:xfrm>
          <a:prstGeom prst="roundRect">
            <a:avLst>
              <a:gd name="adj" fmla="val 0"/>
            </a:avLst>
          </a:prstGeom>
          <a:solidFill>
            <a:srgbClr val="ECF5EC">
              <a:alpha val="100000"/>
            </a:srgbClr>
          </a:solidFill>
          <a:ln w="12700" cap="flat" cmpd="sng">
            <a:solidFill>
              <a:srgbClr val="4CAF50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70500" y="25781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651500" y="25400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决策困难，效率低下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面对海量信息无从下手，每日陷入“吃什么”的纠结内耗，浪费时间。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382000" y="2413000"/>
            <a:ext cx="3048000" cy="1143000"/>
          </a:xfrm>
          <a:prstGeom prst="roundRect">
            <a:avLst>
              <a:gd name="adj" fmla="val 0"/>
            </a:avLst>
          </a:prstGeom>
          <a:solidFill>
            <a:srgbClr val="ECF5EC">
              <a:alpha val="100000"/>
            </a:srgbClr>
          </a:solidFill>
          <a:ln w="12700" cap="flat" cmpd="sng">
            <a:solidFill>
              <a:srgbClr val="4CAF50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72500" y="25781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953500" y="25400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营养失衡，缺乏规划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凭感觉吃饭，荤素搭配不合理，长期忽视膳食平衡，埋下健康隐患。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080000" y="3810000"/>
            <a:ext cx="3048000" cy="1143000"/>
          </a:xfrm>
          <a:prstGeom prst="roundRect">
            <a:avLst>
              <a:gd name="adj" fmla="val 0"/>
            </a:avLst>
          </a:prstGeom>
          <a:solidFill>
            <a:srgbClr val="ECF5EC">
              <a:alpha val="100000"/>
            </a:srgbClr>
          </a:solidFill>
          <a:ln w="12700" cap="flat" cmpd="sng">
            <a:solidFill>
              <a:srgbClr val="4CAF50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70500" y="39751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651500" y="39370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千人一面，难符需求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无法兼顾忌口、食材存量、烹饪水平，推荐内容与实际生活脱节。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382000" y="3810000"/>
            <a:ext cx="3048000" cy="1143000"/>
          </a:xfrm>
          <a:prstGeom prst="roundRect">
            <a:avLst>
              <a:gd name="adj" fmla="val 0"/>
            </a:avLst>
          </a:prstGeom>
          <a:solidFill>
            <a:srgbClr val="ECF5EC">
              <a:alpha val="100000"/>
            </a:srgbClr>
          </a:solidFill>
          <a:ln w="12700" cap="flat" cmpd="sng">
            <a:solidFill>
              <a:srgbClr val="4CAF50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2500" y="39751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953500" y="39370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云端上传，隐私风险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个人饮食、健康数据上传云端，存在数据泄露、被滥用的安全隐患。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5080000" y="5207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B5E20"/>
                </a:solidFill>
                <a:latin typeface="Noto Sans SC"/>
                <a:ea typeface="Noto Sans SC"/>
                <a:cs typeface="Noto Sans SC"/>
                <a:sym typeface="Noto Sans SC"/>
              </a:rPr>
              <a:t>02 / 食刻AI：三大核心解决方案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080000" y="5715000"/>
            <a:ext cx="2032000" cy="889000"/>
          </a:xfrm>
          <a:prstGeom prst="roundRect">
            <a:avLst>
              <a:gd name="adj" fmla="val 0"/>
            </a:avLst>
          </a:prstGeom>
          <a:solidFill>
            <a:srgbClr val="E0F2F1">
              <a:alpha val="80000"/>
            </a:srgbClr>
          </a:solidFill>
          <a:ln w="12700" cap="flat" cmpd="sng">
            <a:solidFill>
              <a:srgbClr val="009688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07000" y="5842000"/>
            <a:ext cx="228600" cy="228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486400" y="5778500"/>
            <a:ext cx="158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65C0"/>
                </a:solidFill>
                <a:latin typeface="Noto Sans SC"/>
                <a:ea typeface="Noto Sans SC"/>
                <a:cs typeface="Noto Sans SC"/>
                <a:sym typeface="Noto Sans SC"/>
              </a:rPr>
              <a:t>本地AI引擎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集成Qwen2.5大模型，精准理解需求。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239000" y="5715000"/>
            <a:ext cx="2032000" cy="889000"/>
          </a:xfrm>
          <a:prstGeom prst="roundRect">
            <a:avLst>
              <a:gd name="adj" fmla="val 0"/>
            </a:avLst>
          </a:prstGeom>
          <a:solidFill>
            <a:srgbClr val="E0F2F1">
              <a:alpha val="80000"/>
            </a:srgbClr>
          </a:solidFill>
          <a:ln w="12700" cap="flat" cmpd="sng">
            <a:solidFill>
              <a:srgbClr val="009688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66000" y="5842000"/>
            <a:ext cx="228600" cy="228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645400" y="5778500"/>
            <a:ext cx="158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65C0"/>
                </a:solidFill>
                <a:latin typeface="Noto Sans SC"/>
                <a:ea typeface="Noto Sans SC"/>
                <a:cs typeface="Noto Sans SC"/>
                <a:sym typeface="Noto Sans SC"/>
              </a:rPr>
              <a:t>专属定制方案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基于食材口味禁忌，生成饮食计划。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9398000" y="5715000"/>
            <a:ext cx="2032000" cy="889000"/>
          </a:xfrm>
          <a:prstGeom prst="roundRect">
            <a:avLst>
              <a:gd name="adj" fmla="val 0"/>
            </a:avLst>
          </a:prstGeom>
          <a:solidFill>
            <a:srgbClr val="E0F2F1">
              <a:alpha val="80000"/>
            </a:srgbClr>
          </a:solidFill>
          <a:ln w="12700" cap="flat" cmpd="sng">
            <a:solidFill>
              <a:srgbClr val="009688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0" y="5842000"/>
            <a:ext cx="228600" cy="228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804400" y="5778500"/>
            <a:ext cx="158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65C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数据绝对安全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本地部署处理，数据零上传。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15633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系统技术架构：分层解耦，高效协同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334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2032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14500" y="20701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56335"/>
                </a:solidFill>
                <a:latin typeface="Noto Sans SC"/>
                <a:ea typeface="Noto Sans SC"/>
                <a:cs typeface="Noto Sans SC"/>
                <a:sym typeface="Noto Sans SC"/>
              </a:rPr>
              <a:t>01 前端展示层 · 跨端融合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" y="26035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UniApp + Vue2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开发，一套代码适配H5与小程序。专注交互与可视化，以轻量化渲染保障流畅体验。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556000"/>
            <a:ext cx="5334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3810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714500" y="38481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56335"/>
                </a:solidFill>
                <a:latin typeface="Noto Sans SC"/>
                <a:ea typeface="Noto Sans SC"/>
                <a:cs typeface="Noto Sans SC"/>
                <a:sym typeface="Noto Sans SC"/>
              </a:rPr>
              <a:t>02 后端服务层 · 极速响应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79500" y="43815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FastAPI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高性能异步框架，自动生成API文档。负责接收请求、处理业务逻辑，调度AI模型资源。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270500"/>
            <a:ext cx="5334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5461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14500" y="54737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6335"/>
                </a:solidFill>
                <a:latin typeface="Noto Sans SC"/>
                <a:ea typeface="Noto Sans SC"/>
                <a:cs typeface="Noto Sans SC"/>
                <a:sym typeface="Noto Sans SC"/>
              </a:rPr>
              <a:t>03 AI 模型层 · 本地智算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79500" y="5905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依托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Ollama + Qwen2.5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私有化部署，低成本实现智能菜谱与饮食计划推理。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rcRect t="11764" b="11764"/>
          <a:stretch>
            <a:fillRect/>
          </a:stretch>
        </p:blipFill>
        <p:spPr>
          <a:xfrm>
            <a:off x="6858000" y="2032000"/>
            <a:ext cx="4318000" cy="3302000"/>
          </a:xfrm>
          <a:prstGeom prst="rect">
            <a:avLst/>
          </a:prstGeom>
          <a:noFill/>
          <a:ln cap="flat" cmpd="sng">
            <a:solidFill>
              <a:srgbClr val="2B2F36">
                <a:alpha val="100000"/>
              </a:srgbClr>
            </a:solidFill>
            <a:prstDash val="solid"/>
            <a:round/>
          </a:ln>
          <a:effectLst>
            <a:outerShdw blurRad="228600" dist="635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17" name="AutoShape 17"/>
          <p:cNvSpPr/>
          <p:nvPr/>
        </p:nvSpPr>
        <p:spPr>
          <a:xfrm>
            <a:off x="6858000" y="5461000"/>
            <a:ext cx="4318000" cy="1079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cap="flat" cmpd="sng">
            <a:solidFill>
              <a:srgbClr val="C1E4C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048500" y="5588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高性能服务器提供强大算力支撑，确保模型推理低延迟与高稳定性。本地化部署从根本上杜绝数据泄露，为智能服务提供坚实保障。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核心功能：四大模块，构建完整饮食闭环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2105" b="2105"/>
          <a:stretch>
            <a:fillRect/>
          </a:stretch>
        </p:blipFill>
        <p:spPr>
          <a:xfrm>
            <a:off x="889000" y="2159000"/>
            <a:ext cx="2540000" cy="3302000"/>
          </a:xfrm>
          <a:prstGeom prst="rect">
            <a:avLst/>
          </a:prstGeom>
          <a:noFill/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2540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889000" y="5588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极简深色UI设计，清晰呈现每日膳食方案，操作直观便捷。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064000" y="2032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8000" y="2286000"/>
            <a:ext cx="330200" cy="330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775200" y="2260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 智能菜谱生成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18000" y="2794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基于用户输入的现有食材，系统快速检索并生成适配菜谱，高效解决“冰箱有啥做啥”的难题，减少食材浪费。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01000" y="2032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286000"/>
            <a:ext cx="330200" cy="330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712200" y="2260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 个性化口味推荐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255000" y="2794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支持自定义口味偏好、饮食禁忌及营养需求，智能过滤与优化推荐结果，精准匹配家庭成员的不同饮食诉求。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064000" y="4318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18000" y="4572000"/>
            <a:ext cx="330200" cy="330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775200" y="4546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 智能饮食规划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318000" y="5080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按需生成多日三餐的完整饮食计划，科学搭配荤素与营养结构，自动计算热量摄入，助力膳食均衡。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01000" y="4318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55000" y="4572000"/>
            <a:ext cx="330200" cy="330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712200" y="4546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 AI 烹饪助手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255000" y="5080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支持自然语言交互，实时解答烹饪疑问、食材替换建议及技巧指导，如同随身私厨。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4325A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系统测试与性能分析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279400" cy="279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879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C5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功能完整性：全模块验证通过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99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测试覆盖食材录入、智能菜谱生成、个性化忌口过滤、AI 对话交互等</a:t>
            </a:r>
            <a:r>
              <a:rPr lang="en-US" sz="1300" b="1" i="0" u="none" strike="noStrike">
                <a:solidFill>
                  <a:srgbClr val="1C5280"/>
                </a:solidFill>
                <a:latin typeface="Noto Sans SC"/>
                <a:ea typeface="Noto Sans SC"/>
                <a:cs typeface="Noto Sans SC"/>
                <a:sym typeface="Noto Sans SC"/>
              </a:rPr>
              <a:t>8大核心业务模块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。经多轮严格测试，所有功能均一次性通过验收，无逻辑漏洞与功能缺失，系统核心流程闭环稳定可靠。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318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572000"/>
            <a:ext cx="279400" cy="279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4546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C5280"/>
                </a:solidFill>
                <a:latin typeface="Noto Sans SC"/>
                <a:ea typeface="Noto Sans SC"/>
                <a:cs typeface="Noto Sans SC"/>
                <a:sym typeface="Noto Sans SC"/>
              </a:rPr>
              <a:t>性能表现：本地部署高效响应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5207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C5280"/>
                </a:solidFill>
                <a:latin typeface="Noto Sans SC"/>
                <a:ea typeface="Noto Sans SC"/>
                <a:cs typeface="Noto Sans SC"/>
                <a:sym typeface="Noto Sans SC"/>
              </a:rPr>
              <a:t>20-25s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单条菜谱生成耗时</a:t>
            </a:r>
          </a:p>
        </p:txBody>
      </p:sp>
      <p:cxnSp>
        <p:nvCxnSpPr>
          <p:cNvPr id="12" name="Connector 12"/>
          <p:cNvCxnSpPr/>
          <p:nvPr/>
        </p:nvCxnSpPr>
        <p:spPr>
          <a:xfrm rot="5350892">
            <a:off x="2921000" y="5708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3556000" y="5207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C5280"/>
                </a:solidFill>
                <a:latin typeface="Noto Sans SC"/>
                <a:ea typeface="Noto Sans SC"/>
                <a:cs typeface="Noto Sans SC"/>
                <a:sym typeface="Noto Sans SC"/>
              </a:rPr>
              <a:t>45-55s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多日计划生成耗时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350000" y="1651000"/>
            <a:ext cx="50800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1905000"/>
            <a:ext cx="279400" cy="279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048500" y="1879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C5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系统运行与交互体验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2540000"/>
            <a:ext cx="4572000" cy="1206500"/>
          </a:xfrm>
          <a:prstGeom prst="roundRect">
            <a:avLst>
              <a:gd name="adj" fmla="val 0"/>
            </a:avLst>
          </a:prstGeom>
          <a:solidFill>
            <a:srgbClr val="F0F6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94500" y="29591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302500" y="26670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自然语言智能交互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支持口语化指令输入，精准识别用户的口味偏好与饮食禁忌，实时生成定制化方案，交互过程自然流畅。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604000" y="3873500"/>
            <a:ext cx="4572000" cy="1206500"/>
          </a:xfrm>
          <a:prstGeom prst="roundRect">
            <a:avLst>
              <a:gd name="adj" fmla="val 0"/>
            </a:avLst>
          </a:prstGeom>
          <a:solidFill>
            <a:srgbClr val="F0F6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4500" y="42926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302500" y="4000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可视化营养成分分析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自动解析菜谱的热量、蛋白质、脂肪等关键指标，以图表形式直观呈现，帮助用户清晰掌握每日膳食结构。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604000" y="5207000"/>
            <a:ext cx="4572000" cy="1079500"/>
          </a:xfrm>
          <a:prstGeom prst="roundRect">
            <a:avLst>
              <a:gd name="adj" fmla="val 0"/>
            </a:avLst>
          </a:prstGeom>
          <a:solidFill>
            <a:srgbClr val="F0F6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94500" y="5575300"/>
            <a:ext cx="330200" cy="330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302500" y="53340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全终端自适应兼容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完美适配 Windows、macOS 及主流 Linux 发行版，界面布局自适应不同分辨率，操作响应零延迟。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EBF2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0A2F69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项目总结与未来展望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2309" b="2309"/>
          <a:stretch>
            <a:fillRect/>
          </a:stretch>
        </p:blipFill>
        <p:spPr>
          <a:xfrm>
            <a:off x="889000" y="2032000"/>
            <a:ext cx="2794000" cy="355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A2F69">
                <a:alpha val="1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889000" y="5778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以科技赋能生活，构建智慧烹饪新体验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191000" y="1905000"/>
            <a:ext cx="7366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4472C4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5000" y="2095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953000" y="20955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A2F69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技术沉淀：全栈开发与AI工程化突破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540000"/>
            <a:ext cx="685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熟练驾驭UniApp、Vue2与FastAPI全栈技术，完成本地大模型的部署与深度优化；攻克JSON解析容错、接口超时等核心难题，夯实技术底座，显著提升系统稳定性与兼容性。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191000" y="3556000"/>
            <a:ext cx="7366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4472C4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5000" y="3746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953000" y="37465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A2F69"/>
                </a:solidFill>
                <a:latin typeface="Noto Sans SC"/>
                <a:ea typeface="Noto Sans SC"/>
                <a:cs typeface="Noto Sans SC"/>
                <a:sym typeface="Noto Sans SC"/>
              </a:rPr>
              <a:t>攻坚克难：针对性技术方案落地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45000" y="4191000"/>
            <a:ext cx="685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针对数据异常，引入严格校验与异常捕获机制保障解析安全；利用异步任务与WebSocket技术解决响应超时痛点；通过FastAPI中间件规范配置，彻底打通跨域资源共享(CORS)访问限制。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191000" y="5143500"/>
            <a:ext cx="7366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4472C4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000" y="5334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953000" y="53340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A2F69"/>
                </a:solidFill>
                <a:latin typeface="Noto Sans SC"/>
                <a:ea typeface="Noto Sans SC"/>
                <a:cs typeface="Noto Sans SC"/>
                <a:sym typeface="Noto Sans SC"/>
              </a:rPr>
              <a:t>未来迭代：打造更智能的“食刻AI”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445000" y="5740400"/>
            <a:ext cx="685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规划上线“拍照识食材”实现智能菜谱推荐，引入视频教程提升实操成功率；搭建社区社交体系增强用户粘性，持续轻量化优化模型，让AI烹饪助手更敏捷、更懂用户需求。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</Words>
  <Application>Microsoft Office PowerPoint</Application>
  <PresentationFormat>宽屏</PresentationFormat>
  <Paragraphs>79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Noto Sans SC</vt:lpstr>
      <vt:lpstr>思源黑体 CN Bold</vt:lpstr>
      <vt:lpstr>思源黑体 CN Heavy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炳阳 陈</cp:lastModifiedBy>
  <cp:revision>1</cp:revision>
  <dcterms:modified xsi:type="dcterms:W3CDTF">2026-07-11T03:55:10Z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{"Label":"1","ContentProducer":"001191110102MACQD9K64010000","ProduceID":"7661113328408808695","ReservedCode1":"","ContentPropagator":"","PropagateID":"","ReservedCode2":""}</vt:lpwstr>
  </property>
</Properties>
</file>